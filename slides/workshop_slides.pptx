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3"/>
    <p:restoredTop sz="77996"/>
  </p:normalViewPr>
  <p:slideViewPr>
    <p:cSldViewPr snapToGrid="0" snapToObjects="1">
      <p:cViewPr>
        <p:scale>
          <a:sx n="125" d="100"/>
          <a:sy n="125" d="100"/>
        </p:scale>
        <p:origin x="1136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30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A caveat to automated methods now allowing large-scale over-time analysis is that the models might nevertheless miss group appeals that have either been long forgotten or new ones that did not appear in the training material. I say this just so that you are aware of this, but I can also say that there is some evidence that the model is in fact capable of capturing social group tokens outside the scope of the training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OVERTLY MEANS – ADD SLIDE that will show examples of what OVERT vs. None-overt mentions of social groups – is it in the codebook?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COMPUTATION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Group Appeals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Text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114800" cy="228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Alona Dolinsky &amp; Dylan Paltra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COMPTEXT 2026 Workshop  ·  University of Birmingham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7432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&amp; Manual Annotation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group appeals?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social groups &amp; appeals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 codebook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7432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Break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560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☕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7432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 &amp; Practice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overview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groupappeals Python package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(~45 min)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wrap-up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&amp; Manual Annotation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group appeals · Building training data · Ensuring validity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Study Group Appeals?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manifesto sentences contain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group mention (PSoGA)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3291840" y="1051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group appeals express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stance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126480" y="1051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304K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2648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groups detected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 manifestos, 8 countries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appeals shape electoral behaviour (Dassonneville et al. 2025; Thau 2021, 2024) and policy attitudes (Huber et al. 2024)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compete over groups, not just policies — yet comparative data have been scarce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studies rely on manual coding: single-country, single-group, short time-span, not publicly available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methods now enable large-scale, cross-national, longitudinal analysis*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Concept: Social Group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 of society or collection of people sharing common socio-demographic traits — ascriptive and/or acquired (sex, age, ethnicity, religion, residence, education, occupation, etc.) (Huber and Dolinsky 2023)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840480" cy="34747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Workers, elderly, women, students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Migrants, religious communities, farmers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Intersectional: 'young women', 'low-income families'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Groupings within organisations: police officers, union members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93192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663440" y="2240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EXCLUDED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entities: trade unions, corporations, state authorities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ideology/opinion groups: 'conservatives', 'activists'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affiliations: 'Labour voters', 'Republicans'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unspecific: 'everyone', 'all', 'people' (without modifier)</a:t>
            </a:r>
            <a:endParaRPr lang="en-US" sz="12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448279-6AF5-3EFD-DA2C-B9B5241FE798}"/>
              </a:ext>
            </a:extLst>
          </p:cNvPr>
          <p:cNvGrpSpPr/>
          <p:nvPr/>
        </p:nvGrpSpPr>
        <p:grpSpPr>
          <a:xfrm>
            <a:off x="457200" y="4476404"/>
            <a:ext cx="8138160" cy="566928"/>
            <a:chOff x="457200" y="4343400"/>
            <a:chExt cx="8138160" cy="566928"/>
          </a:xfrm>
        </p:grpSpPr>
        <p:sp>
          <p:nvSpPr>
            <p:cNvPr id="13" name="Shape 11"/>
            <p:cNvSpPr/>
            <p:nvPr/>
          </p:nvSpPr>
          <p:spPr>
            <a:xfrm>
              <a:off x="457200" y="4343400"/>
              <a:ext cx="8138160" cy="566928"/>
            </a:xfrm>
            <a:prstGeom prst="rect">
              <a:avLst/>
            </a:prstGeom>
            <a:solidFill>
              <a:srgbClr val="EEF7F9"/>
            </a:solidFill>
            <a:ln w="12700">
              <a:solidFill>
                <a:srgbClr val="3DB9C0"/>
              </a:solidFill>
              <a:prstDash val="solid"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" y="4389120"/>
              <a:ext cx="777240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Key test: Does the group share socio-demographic traits (not just beliefs or organisational membership)?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Concept: Group Appeal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3327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in which a social group is explicitly mentioned and a stance (positive/negative/neutral) toward the group is expressed — and optionally, a related policy is present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606040" cy="2286000"/>
          </a:xfrm>
          <a:prstGeom prst="rect">
            <a:avLst/>
          </a:prstGeom>
          <a:solidFill>
            <a:srgbClr val="F8F7F4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06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social group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overtly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mentioned? Capture full span including modifiers.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057400"/>
            <a:ext cx="2606040" cy="2286000"/>
          </a:xfrm>
          <a:prstGeom prst="rect">
            <a:avLst/>
          </a:prstGeom>
          <a:solidFill>
            <a:srgbClr val="F8F7F4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606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Negative · Neutral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stance toward the target, not overall sentiment.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2606040" cy="2286000"/>
          </a:xfrm>
          <a:prstGeom prst="rect">
            <a:avLst/>
          </a:prstGeom>
          <a:solidFill>
            <a:srgbClr val="F8F7F4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concrete policy (pledge, record, or criticism) directed at the group present?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40080" y="450799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appeal: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mention without policy 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Substantive appeal: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mention + concrete policy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Dimensions: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698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"…legislate to tackle hate crimes against </a:t>
            </a: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 disability</a:t>
            </a: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(Fianna Fáil, 2020)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 disability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1188720" cy="29260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760720" y="1600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600200"/>
            <a:ext cx="1463040" cy="29260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Yes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</a:t>
            </a: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getting richer whilst everyone else struggles to make ends meet." (UK Greens, 2019)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2926080"/>
            <a:ext cx="1188720" cy="2926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5760720" y="2926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926080"/>
            <a:ext cx="1463040" cy="29260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40080" y="37216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Conservative Party's policy of tax cuts has favoured </a:t>
            </a: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</a:t>
            </a: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expense of </a:t>
            </a: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struggling working class</a:t>
            </a: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2702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  /  the working class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4251960"/>
            <a:ext cx="118872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760720" y="4251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/  Positive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4251960"/>
            <a:ext cx="1463040" cy="29260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7040880" y="4251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Yes  /  No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 Meaningful Group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examples — full list in codebook Appendix B2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people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70916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0992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workers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&amp; business owners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class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class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class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professionals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servants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Sociocultural professionals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collar workers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3127248"/>
            <a:ext cx="4023360" cy="347472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709160" y="3127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Identity/Status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53872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LGBTQI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Migrants &amp; refugees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 &amp; national communities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communities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disabilities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Homeless people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Annotation Codebook: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analysis: the natural sentence (linguistically coherent, replicable across languages)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coding decisions per sentence: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 Is a social group overtly mentioned and if yes, which one? (capture full span including all modifiers)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Stance toward the group: Positive / Negative / Neutral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Is a related policy present? Yes / 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groups per sentence: each recorded separately with its own stance &amp; policy label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 groups (e.g., 'young women') assigned to multiple meaningful group categories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meaningful group categories — from Workers &amp; Families to LGBTQI &amp; Homeless People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'Other' category for groups not fitting a specified category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Annotation: Common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6070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terms: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06070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 if a modifier specifies a defined grouping: 'ordinary people', 'people in rural areas' ✓  —  'We will help people' ✗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40080" y="186537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references: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86537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'their families', 'their patients' in relation to a primary group: do NOT record as independent groups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8229600" cy="71323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legislation / party name: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67004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 a law title or party name (e.g. 'Workers' Party') → code as Neutral stance, no policy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8229600" cy="71323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without overt group mention: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4747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group is not explicitly named, do not code the appeal — even if the policy clearly targets them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40080" y="42793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of rival party's policy: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27939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stance toward the group mentioned in the rival's policy (positive/negative), not toward the rival party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Annotated Training Corpus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7589520" cy="658368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selection: 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texts? Manifestos, speeches, social media, news — consider language(s)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4864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1783080"/>
            <a:ext cx="7589520" cy="658368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parsing: 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natural sentences; handle lists and bullet points as standalone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97280" y="2560320"/>
            <a:ext cx="7589520" cy="658368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guidelines: 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concepts with examples for each decision; pilot-test with coders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54864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3337560"/>
            <a:ext cx="7589520" cy="658368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1280160" y="34290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platform: 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00400" y="342900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INCePTION, Doccano, Label Studio — assign &amp; manage coder tasks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54864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97280" y="4114800"/>
            <a:ext cx="7589520" cy="658368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1280160" y="42062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Inter-rater reliability: 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0" y="42062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Krippendorff's α ≥ 0.8 target; review disagreements, update guidelines, re-annotate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937760"/>
            <a:ext cx="8229600" cy="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&amp; 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PSoGA model performance (Krippendorff's α &gt; 0.8 for all labels):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detection)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0.957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0.953  R: 0.961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201168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2606040" y="14447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(NLI)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0.827  R: 0.807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201168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detection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(NLI)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0.870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0.869  R: 0.874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01168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6903720" y="14447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category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(multi-label)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0.854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0.863  R: 0.844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strategies: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182112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validity: keyness statistics by party family — do results match known ideological profiles? (yes)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validity: Pearson correlations with MARPOR — strong for Farmers (r=0.654), moderate for Labour (r=0.365)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closely reproduces Thau (2019) trends for UK parties (workers, lower class, tenants, employers)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validation: additional annotation in Dutch, Spanish, and Danish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coming up: Computation &amp; hands-on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 &amp; Practice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· groupappeals Python package · Hands-on exercise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Pipeline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377440" cy="1645920"/>
          </a:xfrm>
          <a:prstGeom prst="rect">
            <a:avLst/>
          </a:prstGeom>
          <a:solidFill>
            <a:srgbClr val="1A5F6E"/>
          </a:solidFill>
          <a:ln w="12700">
            <a:solidFill>
              <a:srgbClr val="1A5F6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3774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Pre-processing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texts → sentences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composite 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(party_date_sentenceID)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20340" y="16642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560320" cy="164592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560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3246120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Group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mDeBERTaV3 Token Classifier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exact group spans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0.953 · F1 0.957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691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1417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group detected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400800" y="1033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③a  Stance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2710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NLI: Positive / Negative / Neutral   F1 0.815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572768"/>
            <a:ext cx="2468880" cy="502920"/>
          </a:xfrm>
          <a:prstGeom prst="rect">
            <a:avLst/>
          </a:prstGeom>
          <a:solidFill>
            <a:srgbClr val="D4793A"/>
          </a:solidFill>
          <a:ln w="12700">
            <a:solidFill>
              <a:srgbClr val="D479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640080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③b  Policy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837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NLI: Policy / No Policy   F1 0.870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139696"/>
            <a:ext cx="2468880" cy="502920"/>
          </a:xfrm>
          <a:prstGeom prst="rect">
            <a:avLst/>
          </a:prstGeom>
          <a:solidFill>
            <a:srgbClr val="BE6930"/>
          </a:solidFill>
          <a:ln w="12700">
            <a:solidFill>
              <a:srgbClr val="BE693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40080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③c  Group Classification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404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43 categories   F1 0.854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8412480" cy="36576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365760" y="29443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2926080"/>
            <a:ext cx="3474720" cy="7315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16002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dataset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600200" y="3255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~770k rows · text, group, stance, policy, category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03520" y="2926080"/>
            <a:ext cx="3474720" cy="731520"/>
          </a:xfrm>
          <a:prstGeom prst="rect">
            <a:avLst/>
          </a:prstGeom>
          <a:solidFill>
            <a:srgbClr val="EEF7F9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54406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Manifesto-level dataset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40680" y="3255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% appeals per category per manifesto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3794760"/>
            <a:ext cx="8412480" cy="118872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548640" y="38587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 &amp; limitations: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17880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 = natural sentence (not quasi-sentence) — preserves group-stance link within a sentence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 mentions only — implicit group targeting not captured; focus on observable rhetoric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8 Western European countries / 5 languages — multilingual models, but validate for your context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Architecture: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classifier (group detection): mDeBERTaV3 fine-tuned on bilingual (EN+DE) annotated data — assigns LABEL_0/LABEL_1 to each token, then groups consecutive LABEL_1 tokens into entity spans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&amp; policy detection: Natural Language Inference (NLI) approach — the model evaluates whether a hypothesis like 'The text is positive towards [group]' is true or false for each sentence; no re-training needed for new group categories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NLI for stance/policy? Handles arbitrary group names without retraining; separates stance toward different groups within the same sentence; generalises across languages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category classification: mDeBERTa multi-label classifier — each group token is assigned one or more of 43 categories simultaneously, enabling intersectional coding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multilingual mDeBERTaV3 base → fine-tuned on hand-coded English &amp; German data → validated in Dutch, Spanish, and Danish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groupappeals Python Package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508760"/>
          </a:xfrm>
          <a:prstGeom prst="rect">
            <a:avLst/>
          </a:prstGeom>
          <a:solidFill>
            <a:srgbClr val="EEF7F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extractgrouptoken.py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classifier identifies group spans in text; returns exact text, position, and confidence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508760"/>
          </a:xfrm>
          <a:prstGeom prst="rect">
            <a:avLst/>
          </a:prstGeom>
          <a:solidFill>
            <a:srgbClr val="EEF7F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stancedetection.py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71907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model assigns Positive / Negative / Neutral stance for each group mention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023360" cy="1508760"/>
          </a:xfrm>
          <a:prstGeom prst="rect">
            <a:avLst/>
          </a:prstGeom>
          <a:solidFill>
            <a:srgbClr val="EEF7F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365760" y="2697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policydetection.py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4107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model determines whether a policy directed at the group is present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4023360" cy="1508760"/>
          </a:xfrm>
          <a:prstGeom prst="rect">
            <a:avLst/>
          </a:prstGeom>
          <a:solidFill>
            <a:srgbClr val="EEF7F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4663440" y="2697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Classification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classifymeaningfulgroups.py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4107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classifier assigns one or more of 43 meaningful group categories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548640" y="45079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groupappeals   ·   Full pipeline: run_full_pipeline()   ·   CLI: groupappeals pipeline --input data.csv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&amp;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the package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groupappeals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import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(extract_entities, detect_stance,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detect_policy, classify_groups,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run_full_pipeline)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Alternatively: use CLI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groupappeals --help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groupappeals pipeline --input my_texts.csv --output results.csv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--create-composite-id party,year,sentence_id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--clean-labels --split-groups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Requires Python 3.8+ · PyTorch · transformers · GPU recommended for large corpora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Data Format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005840"/>
            <a:ext cx="731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2801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256032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sentence_id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005840"/>
            <a:ext cx="5074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353312"/>
            <a:ext cx="137160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02920" y="1371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1353312"/>
            <a:ext cx="73152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1874520" y="13716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1353312"/>
            <a:ext cx="128016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2606040" y="13716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1353312"/>
            <a:ext cx="507492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886200" y="1371600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will ensure that workers receive a real living wage.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1737360"/>
            <a:ext cx="1371600" cy="3657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502920" y="17556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1737360"/>
            <a:ext cx="731520" cy="3657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1874520" y="17556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1737360"/>
            <a:ext cx="1280160" cy="3657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2606040" y="17556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1737360"/>
            <a:ext cx="5074920" cy="3657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3886200" y="1755648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 across the country deserve better public services.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121408"/>
            <a:ext cx="137160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502920" y="21396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2121408"/>
            <a:ext cx="73152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1874520" y="213969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60320" y="2121408"/>
            <a:ext cx="128016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2606040" y="21396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2121408"/>
            <a:ext cx="5074920" cy="3657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3886200" y="2139696"/>
            <a:ext cx="4983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have created more jobs for young people than ever before.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594360" y="265176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composite ID: party_year_sentence_id → 'Labour_2019_1', 'Labour_2019_2' …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3337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requirements: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3730752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format; text column (default: 'text') + ID column (default: 'text_id') or composable columns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IDs (party + year + sentence_id) are strongly recommended — they maintain traceability throughout the full pipeline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row; remove headers, footnotes, and non-sentence content before running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models work best on EN, DE, NL, ES, DA — other European languages may degrade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Group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process_csv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 CSV file (recommended)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df_groups = process_csv(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= 'my_texts.csv',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text_column = 'text',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id_column   = 'text_id',   # use your composite 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= 'step1_groups.csv'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columns: text_id, text, Entity, Average Score,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Start, End, Exact.Group.Text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text_id.0 = no group found; text_id.1/.2/... = each group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mention in a sentence gets its own row. Rows with no group detected get suffix .0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2 &amp; 3: Stance and Policy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process_stance_csv, process_policy_csv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Stance detection — filter to rows WITH a group first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df_with_groups = df_groups[df_groups['Exact.Group.Text'].notna()]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df_with_groups.to_csv('groups_only.csv', index=False)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df_stance = process_stance_csv(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 = 'groups_only.csv',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text_column  = 'text',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group_column = 'Exact.Group.Text',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clean_labels = True,        # adds 'Stance_Clean' column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 = 'step2_stance.csv'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df_policy = process_policy_csv(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 = 'step2_stance.csv',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clean_labels = True,        # adds 'Policy_Clean' column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 = 'step3_policy.csv'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Group Category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process_groups_csv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df_final = process_groups_csv(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  = 'step3_policy.csv',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group_column  = 'Exact.Group.Text',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score_threshold = 0.5,      # confidence threshold (0–1)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split_groups  = True,       # → Group1, Group2, ... columns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  = 'final_results.csv'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'Meaningful Group' column contains list of assigned categories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 ['Employees And Workers', 'Lower Class']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split_groups=True: separate Group1, Group2 columns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group tokens (94%) receive at least one category; 8.3% fall into 'Other'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Pipeline: One-Step Shortcut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8229600" cy="3458095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255015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run_full_pipeline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result_df = run_full_pipeline(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       = 'my_texts.csv',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       = 'results_final.csv',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text_column        = 'text',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create_composite_id = ['party', 'year', 'sentence_id'],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clean_labels       = True,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split_groups       = True,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         = 32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 equivalent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groupappeals pipeline --input my_texts.csv --output results_final.csv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--create-composite-id party,year,sentence_id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--clean-labels --split-groups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four steps sequentially; intermediate files available; device auto-detected (CUDA → MPS → CPU)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What You Get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24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identifier (e.g. Labour_2019_1.2)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408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sentence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34747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48640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Exact.Group.Text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17922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string of the detected 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8229600" cy="34747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176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NLI label ('The text is positive towards…')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34747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486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Stance_Clean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'positive' / 'negative' / 'neutral'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548640" y="2944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Stance_Confidence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2944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score (0–1)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4864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3284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NLI label ('The text contains a policy…')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75888"/>
            <a:ext cx="8229600" cy="34747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548640" y="37124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Policy_Clean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7124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'policy' / 'no policy'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59936"/>
            <a:ext cx="8229600" cy="347472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Meaningful Group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4096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assigned category labels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443984"/>
            <a:ext cx="8229600" cy="347472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54864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Group1, Group2…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category columns (if split_groups=True)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Validating Your Own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before using results for inference — automated methods introduce errors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Random sample check: draw ~100–200 sentences; verify group detection by hand; calculate precision &amp; recall against your manual judgement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Distribution checks: do stance proportions look plausible? (expect majority positive in manifestos); flag outlier parties or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Convergent validity: if you have comparable manual data or existing datasets, compute correlations for overlapping categories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Error analysis: examine false positives (things coded as groups that aren't) and false negatives (groups the model missed); update guidance if you plan to fine-tune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quality_control=True flag: automatically checks that groups extracted by stance/policy models match original Exact.Group.Text (catches pipeline misalignments)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HANDS-ON EXERCISE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3DB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minutes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64008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7589520" cy="1005840"/>
          </a:xfrm>
          <a:prstGeom prst="rect">
            <a:avLst/>
          </a:prstGeom>
          <a:solidFill>
            <a:srgbClr val="1E2D40"/>
          </a:solidFill>
          <a:ln w="635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280160" y="14447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 (10 min)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codebook to annotate the provided 10 sentences. Record: group detected? which group? stance? policy? Compare with your neighbour.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64008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365760" y="253288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097280" y="2532888"/>
            <a:ext cx="7589520" cy="1005840"/>
          </a:xfrm>
          <a:prstGeom prst="rect">
            <a:avLst/>
          </a:prstGeom>
          <a:solidFill>
            <a:srgbClr val="1E2D40"/>
          </a:solidFill>
          <a:ln w="635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(20 min)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9008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groupappeals to your own data (or the provided sample CSV). Run the full pipeline and inspect the output. Focus: does group detection match your manual annotations?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64008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097280" y="3694176"/>
            <a:ext cx="7589520" cy="1005840"/>
          </a:xfrm>
          <a:prstGeom prst="rect">
            <a:avLst/>
          </a:prstGeom>
          <a:solidFill>
            <a:srgbClr val="1E2D40"/>
          </a:solidFill>
          <a:ln w="635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1280160" y="37673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validate (15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15137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simple distribution: how many positive / negative / neutral stances? Check 5–10 outputs manually. What errors do you see? When does the model struggle?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A — Manual Annotation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sentence below, answer: (1) Is a social group mentioned? (2) Which group? (3) Stance? (4) Policy?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" cy="594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7772400" cy="5943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1051560" y="143560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ensure that workers receive a real living wage and better protections at 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365760" cy="594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075688"/>
            <a:ext cx="7772400" cy="5943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051560" y="213969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young people not in education, employment or training has risen sharply.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65760" cy="594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779776"/>
            <a:ext cx="7772400" cy="5943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 will cut taxes for small business owners, helping them invest and create jobs.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365760" cy="594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57200" y="348386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483864"/>
            <a:ext cx="7772400" cy="594360"/>
          </a:xfrm>
          <a:prstGeom prst="rect">
            <a:avLst/>
          </a:prstGeom>
          <a:solidFill>
            <a:srgbClr val="F8F7F4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Migrants make enormous contributions to our economy, our public services, and our culture.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65760" cy="594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187952"/>
            <a:ext cx="7772400" cy="594360"/>
          </a:xfrm>
          <a:prstGeom prst="rect">
            <a:avLst/>
          </a:prstGeom>
          <a:solidFill>
            <a:srgbClr val="EEF7F9"/>
          </a:solidFill>
          <a:ln w="635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1051560" y="425196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Criminals who commit violent offences must face the full force of the law.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Compare your answers with a neighbour — where do you disagree?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B — Running the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1: Use your own data (CSV with 'text' column)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groupappeals import run_full_pipeline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run_full_pipeline(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= 'YOUR_FILE.csv',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= 'YOUR_RESULTS.csv',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text_column = 'text',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clean_labels = True,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split_groups =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2: Use provided sample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run_full_pipeline(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input_file  = 'sample_manifestos.csv',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 = 'sample_results.csv',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create_composite_id = ['party', 'year', 'sentence_id'],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clean_labels = True, split_groups =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Extraction is fast; stance/policy/classify models take longer — use sample data if no GPU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C — Explore &amp; Validate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pd.read_csv('YOUR_RESULTS.csv')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many groups detected?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has_group = df['Exact.Group.Text'].notna()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print(f'Sentences with a group: {has_group.sum()} / {len(df)}')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Stance distribution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print(df.loc[has_group, 'Stance_Clean'].value_counts())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Most common group categories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print(df['Group1'].value_counts().head(10))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10 rows for manual inspection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df[has_group][['text','Exact.Group.Text','Stance_Clean',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4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'Policy_Clean','Group1']].sample(10)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do results match your manual annotations? What kinds of errors do you notice?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the Package to Your Research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text types: the models were trained on manifestos — for speeches, social media, or news, validate carefully and consider fine-tuning on domain-specific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languages: mDeBERTaV3 is multilingual; validated on EN, DE, NL, ES, DA; test on your language before large-scale application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collect a small annotated sample in your domain → use HuggingFace Trainer or SetFit to fine-tune the token classifier or NLI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categories: the 43-category scheme is fixed in the current model; for domain-specific categories, train a new multi-label classifier on your annotations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/ large corpora: use SLURM batch scripts; process in chunks; specify device='cuda'; batch_size=64+ on GPU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users: output is a CSV → read with read_csv() and analyse in tidyverse; package is Python-only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54864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DB9C0"/>
          </a:solidFill>
          <a:ln w="12700">
            <a:solidFill>
              <a:srgbClr val="3DB9C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appeals are a distinct, measurable dimension of political communication — separate from sentiment and issue positions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 is the foundation: clear concepts + detailed codebook + inter-rater reliability checks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methods scale what manual coding cannot — but always validate, especially for new domains or languages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groupappeals pipeline gives you: group detection → stance → policy → category classification in one workflow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PSoGA Database: freely available at Harvard Dataverse (Dolinsky, Huber &amp; Horne 2026)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annotation challenges did you encounter? How did you resolve disagreements?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model perform well — and where did it struggle? What explains this?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you adapt this approach for your own research context?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36576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PSoGA Database: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dataverse.harvard.edu  →  doi:10.7910/DVN/FVI3QW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groupappeals package: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groupappeals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 HuggingFace: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huggingface.co/rwillh11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a.dolinsky@bham.ac.uk   ·  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dylan.paltra@uni-oldenburg.de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COMPTEXT 2026  ·  University of Birmingham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3767</Words>
  <Application>Microsoft Macintosh PowerPoint</Application>
  <PresentationFormat>On-screen Show (16:9)</PresentationFormat>
  <Paragraphs>481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Concept to Computation: Identifying Group Appeals in Text</dc:title>
  <dc:subject>PptxGenJS Presentation</dc:subject>
  <dc:creator>Alona Dolinsky &amp; Dylan Paltra</dc:creator>
  <cp:lastModifiedBy>Alona Dolinsky</cp:lastModifiedBy>
  <cp:revision>17</cp:revision>
  <dcterms:created xsi:type="dcterms:W3CDTF">2026-04-02T19:25:03Z</dcterms:created>
  <dcterms:modified xsi:type="dcterms:W3CDTF">2026-04-13T13:50:41Z</dcterms:modified>
</cp:coreProperties>
</file>